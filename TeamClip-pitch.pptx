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Öppning: fråga publiken hur många filmar på träning i dag – och hur många klipp som faktiskt når spelaren.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1737360"/>
            <a:ext cx="2834640" cy="2834640"/>
          </a:xfrm>
          <a:prstGeom prst="ellipse">
            <a:avLst/>
          </a:prstGeom>
          <a:solidFill>
            <a:srgbClr val="E0242B"/>
          </a:solidFill>
          <a:ln/>
        </p:spPr>
      </p:sp>
      <p:sp>
        <p:nvSpPr>
          <p:cNvPr id="3" name="Shape 1"/>
          <p:cNvSpPr/>
          <p:nvPr/>
        </p:nvSpPr>
        <p:spPr>
          <a:xfrm>
            <a:off x="8522208" y="1938528"/>
            <a:ext cx="2432304" cy="2432304"/>
          </a:xfrm>
          <a:prstGeom prst="ellipse">
            <a:avLst/>
          </a:prstGeom>
          <a:solidFill>
            <a:srgbClr val="A8121B"/>
          </a:solidFill>
          <a:ln/>
        </p:spPr>
      </p:sp>
      <p:sp>
        <p:nvSpPr>
          <p:cNvPr id="4" name="Text 2"/>
          <p:cNvSpPr/>
          <p:nvPr/>
        </p:nvSpPr>
        <p:spPr>
          <a:xfrm>
            <a:off x="8522208" y="1938528"/>
            <a:ext cx="243230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SKOTT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KLART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85800" y="1554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E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TEAMCLIP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8368" y="192024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Noll efterarbete.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feedback.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85800" y="37947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 som klipper träningsvideon medan du tränar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byggd av en handbollstränare, för tränare.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6035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6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teamclip.app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Träningsvideo dör i efterarbetet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6766560" cy="1207008"/>
          </a:xfrm>
          <a:prstGeom prst="roundRect">
            <a:avLst>
              <a:gd name="adj" fmla="val 9091"/>
            </a:avLst>
          </a:prstGeom>
          <a:solidFill>
            <a:srgbClr val="152052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9339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Filma är lätt – sedan börjar jobbet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39572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Sortera, klippa, döpa och skicka. Kvällsarbete efter varje pass.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3246120"/>
            <a:ext cx="6766560" cy="1207008"/>
          </a:xfrm>
          <a:prstGeom prst="roundRect">
            <a:avLst>
              <a:gd name="adj" fmla="val 9091"/>
            </a:avLst>
          </a:prstGeom>
          <a:solidFill>
            <a:srgbClr val="152052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41071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Feedbacken kommer för sent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81304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När klippet väl når spelaren är momentet glömt. Färskvaran är borta.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66928" y="4663440"/>
            <a:ext cx="6766560" cy="1207008"/>
          </a:xfrm>
          <a:prstGeom prst="roundRect">
            <a:avLst>
              <a:gd name="adj" fmla="val 9091"/>
            </a:avLst>
          </a:prstGeom>
          <a:solidFill>
            <a:srgbClr val="152052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82803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Så det blir inget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8680" y="523036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flesta tränare slutar filma – eller dumpar råfilmer i en WhatsApp-grupp.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772400" y="1828800"/>
            <a:ext cx="3840480" cy="2011680"/>
          </a:xfrm>
          <a:prstGeom prst="roundRect">
            <a:avLst>
              <a:gd name="adj" fmla="val 5455"/>
            </a:avLst>
          </a:prstGeom>
          <a:solidFill>
            <a:srgbClr val="1D2B66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20574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h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7772400" y="3063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efterarbete per filmat pass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 dagens verktyg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0" y="4069080"/>
            <a:ext cx="3840480" cy="2011680"/>
          </a:xfrm>
          <a:prstGeom prst="roundRect">
            <a:avLst>
              <a:gd name="adj" fmla="val 5455"/>
            </a:avLst>
          </a:prstGeom>
          <a:solidFill>
            <a:srgbClr val="1D2B66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42976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7772400" y="53035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klipp når spelaren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medan feedbacken är färsk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LÖSNINGEN · APPENS SIGNATUR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Ett tryck. Ett klipp. Rätt spelare.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3566160" cy="2834640"/>
          </a:xfrm>
          <a:prstGeom prst="roundRect">
            <a:avLst>
              <a:gd name="adj" fmla="val 3871"/>
            </a:avLst>
          </a:prstGeom>
          <a:solidFill>
            <a:srgbClr val="152052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2286000"/>
            <a:ext cx="731520" cy="731520"/>
          </a:xfrm>
          <a:prstGeom prst="ellipse">
            <a:avLst/>
          </a:prstGeom>
          <a:solidFill>
            <a:srgbClr val="E0242B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9536" y="32004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Sätt skjutordningen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59536" y="3794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Kalle, Olle, Peter … Kön visar hela tiden vem som skjuter och vem som står på tur.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566160" cy="2834640"/>
          </a:xfrm>
          <a:prstGeom prst="roundRect">
            <a:avLst>
              <a:gd name="adj" fmla="val 3871"/>
            </a:avLst>
          </a:prstGeom>
          <a:solidFill>
            <a:srgbClr val="152052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1728" y="2286000"/>
            <a:ext cx="731520" cy="731520"/>
          </a:xfrm>
          <a:prstGeom prst="ellipse">
            <a:avLst/>
          </a:prstGeom>
          <a:solidFill>
            <a:srgbClr val="E0242B"/>
          </a:solidFill>
          <a:ln/>
        </p:spPr>
      </p:sp>
      <p:sp>
        <p:nvSpPr>
          <p:cNvPr id="11" name="Text 9"/>
          <p:cNvSpPr/>
          <p:nvPr/>
        </p:nvSpPr>
        <p:spPr>
          <a:xfrm>
            <a:off x="468172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81728" y="32004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Kameran rullar hela passet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681728" y="3794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Ett tryck på den stora knappen = ”skott klart”. Segmentet sedan förra trycket blir ett eget klipp.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11312" y="1965960"/>
            <a:ext cx="3566160" cy="2834640"/>
          </a:xfrm>
          <a:prstGeom prst="roundRect">
            <a:avLst>
              <a:gd name="adj" fmla="val 3871"/>
            </a:avLst>
          </a:prstGeom>
          <a:solidFill>
            <a:srgbClr val="152052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03920" y="2286000"/>
            <a:ext cx="731520" cy="731520"/>
          </a:xfrm>
          <a:prstGeom prst="ellipse">
            <a:avLst/>
          </a:prstGeom>
          <a:solidFill>
            <a:srgbClr val="E0242B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503920" y="32004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Klippet landar rätt – direkt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503920" y="379476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Sparas på skytten, döpt och sorterat. Kön loopar varv efter varv. Håll inne på sista skottet: klart.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5212080"/>
            <a:ext cx="11055096" cy="960120"/>
          </a:xfrm>
          <a:prstGeom prst="roundRect">
            <a:avLst>
              <a:gd name="adj" fmla="val 11429"/>
            </a:avLst>
          </a:prstGeom>
          <a:solidFill>
            <a:srgbClr val="1D2B66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21208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FC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Efter passet finns inget efterarbete: allt är redan klippt, sorterat per spelare och på väg till Drive.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Genomgångar spelaren kan spela upp igen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11055096" cy="1280160"/>
          </a:xfrm>
          <a:prstGeom prst="roundRect">
            <a:avLst>
              <a:gd name="adj" fmla="val 8571"/>
            </a:avLst>
          </a:prstGeom>
          <a:solidFill>
            <a:srgbClr val="152052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76272"/>
            <a:ext cx="676656" cy="676656"/>
          </a:xfrm>
          <a:prstGeom prst="ellipse">
            <a:avLst/>
          </a:prstGeom>
          <a:solidFill>
            <a:srgbClr val="E0242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7627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83080" y="205740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Prata över klippet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783080" y="2478024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Tränaren spelar in sin röst medan klippet rullar – direkt i hallen, medan skottet sitter i minnet.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3355848"/>
            <a:ext cx="11055096" cy="1280160"/>
          </a:xfrm>
          <a:prstGeom prst="roundRect">
            <a:avLst>
              <a:gd name="adj" fmla="val 8571"/>
            </a:avLst>
          </a:prstGeom>
          <a:solidFill>
            <a:srgbClr val="152052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657600"/>
            <a:ext cx="676656" cy="676656"/>
          </a:xfrm>
          <a:prstGeom prst="ellipse">
            <a:avLst/>
          </a:prstGeom>
          <a:solidFill>
            <a:srgbClr val="E0242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5760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✎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83080" y="353872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 &amp; rita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783080" y="3959352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Frys bilden mitt i resonemanget, ringa in fötterna, dra skottvinkeln med fingret.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4837176"/>
            <a:ext cx="11055096" cy="1280160"/>
          </a:xfrm>
          <a:prstGeom prst="roundRect">
            <a:avLst>
              <a:gd name="adj" fmla="val 8571"/>
            </a:avLst>
          </a:prstGeom>
          <a:solidFill>
            <a:srgbClr val="152052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5138928"/>
            <a:ext cx="676656" cy="676656"/>
          </a:xfrm>
          <a:prstGeom prst="ellipse">
            <a:avLst/>
          </a:prstGeom>
          <a:solidFill>
            <a:srgbClr val="3FC38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138928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⬆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83080" y="5020056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Färdig video i spelarens ficka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783080" y="544068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Exporteras automatiskt till EN video – pauser, ritning och röst mixat över originalljudet – och laddas upp till spelarens delade Drive-mapp.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Färsk feedback på plats + beständig feedback hemma. Ingen konkurrent levererar båda.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Byggd för barn- och ungdomsidrott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3246120" cy="1737360"/>
          </a:xfrm>
          <a:prstGeom prst="roundRect">
            <a:avLst>
              <a:gd name="adj" fmla="val 6316"/>
            </a:avLst>
          </a:prstGeom>
          <a:solidFill>
            <a:srgbClr val="1D2B66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Tränarens telefon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257860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Filmar, klipper och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bränner in – allt lokalt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858768" y="246888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44568" y="1920240"/>
            <a:ext cx="3246120" cy="1737360"/>
          </a:xfrm>
          <a:prstGeom prst="roundRect">
            <a:avLst>
              <a:gd name="adj" fmla="val 6316"/>
            </a:avLst>
          </a:prstGeom>
          <a:solidFill>
            <a:srgbClr val="1D2B66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2148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Tränarens Drive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800600" y="257860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Enda lagringsplatsen.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 server däremellan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836408" y="246888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522208" y="1920240"/>
            <a:ext cx="3246120" cy="1737360"/>
          </a:xfrm>
          <a:prstGeom prst="roundRect">
            <a:avLst>
              <a:gd name="adj" fmla="val 6316"/>
            </a:avLst>
          </a:prstGeom>
          <a:solidFill>
            <a:srgbClr val="1D2B66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0" y="2148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Spelarens delade mapp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778240" y="257860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Läsrättighet till en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e-post ur registret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" y="4069080"/>
            <a:ext cx="10972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 egen server, ingen central databas med barn på film – GDPR-ytan är minimal by design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 kan bara röra filer den själv skapat (Googles minsta Drive-behörighet)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Gästspelare filmas utan att delas med någon – flyttas till riktig spelare först vid behov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Vårdnadshavarens e-post i registret = delningen sker till rätt vuxen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MARKNADEN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Nischen träningsklippning är tom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6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AKTÖR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9184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6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FOKUS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9224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6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778240" y="1783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6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LUCKA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11155680" cy="768096"/>
          </a:xfrm>
          <a:prstGeom prst="roundRect">
            <a:avLst>
              <a:gd name="adj" fmla="val 14286"/>
            </a:avLst>
          </a:prstGeom>
          <a:solidFill>
            <a:srgbClr val="1D2B66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2148840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Hudl · XPS Network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91840" y="2148840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Matchanalys för elit och förbund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2148840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5 000–20 000 kr per lag/säsong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78240" y="2148840"/>
            <a:ext cx="2834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Rör inte träningsflödet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044952"/>
            <a:ext cx="11155680" cy="768096"/>
          </a:xfrm>
          <a:prstGeom prst="roundRect">
            <a:avLst>
              <a:gd name="adj" fmla="val 14286"/>
            </a:avLst>
          </a:prstGeom>
          <a:solidFill>
            <a:srgbClr val="152052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" y="3044952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OnForm · CoachNow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291840" y="3044952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Individuell teknikcoachning (USA)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3044952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200–500 kr/mån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78240" y="3044952"/>
            <a:ext cx="2834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Inget lagflöde, video i deras moln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941064"/>
            <a:ext cx="11155680" cy="768096"/>
          </a:xfrm>
          <a:prstGeom prst="roundRect">
            <a:avLst>
              <a:gd name="adj" fmla="val 14286"/>
            </a:avLst>
          </a:prstGeom>
          <a:solidFill>
            <a:srgbClr val="1D2B66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" y="3941064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SportAdmin · laget.se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291840" y="3941064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Föreningsadministration, 250 000+ användare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3941064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Föreningsavtal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778240" y="3941064"/>
            <a:ext cx="2834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 videofeedback alls – partner, inte hot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4837176"/>
            <a:ext cx="11155680" cy="768096"/>
          </a:xfrm>
          <a:prstGeom prst="roundRect">
            <a:avLst>
              <a:gd name="adj" fmla="val 14286"/>
            </a:avLst>
          </a:prstGeom>
          <a:solidFill>
            <a:srgbClr val="152052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" y="4837176"/>
            <a:ext cx="2651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Mobilkamera + WhatsApp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291840" y="4837176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Vad tränare faktiskt gör i dag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4837176"/>
            <a:ext cx="2194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kr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778240" y="4837176"/>
            <a:ext cx="28346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Osorterat kaos utan feedback – vår riktiga konkurrent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5852160"/>
            <a:ext cx="11155680" cy="685800"/>
          </a:xfrm>
          <a:prstGeom prst="roundRect">
            <a:avLst>
              <a:gd name="adj" fmla="val 16000"/>
            </a:avLst>
          </a:prstGeom>
          <a:solidFill>
            <a:srgbClr val="A8121B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8521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 klipper träningsvideo i realtid utan efterarbete. TeamClip äger det flödet.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AFFÄRSMODELL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Gräsrotspris med elitmarginal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152052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21214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6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9536" y="248716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kr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59536" y="320040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grupp</a:t>
            </a:r>
            <a:endParaRPr lang="en-US" sz="13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Spontanläge</a:t>
            </a:r>
            <a:endParaRPr lang="en-US" sz="13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 granskning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89120" y="187452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1D2B66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81728" y="21214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81728" y="248716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 kr/mån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681728" y="320040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Obegränsade grupper</a:t>
            </a:r>
            <a:endParaRPr lang="en-US" sz="13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Kö-läget</a:t>
            </a:r>
            <a:endParaRPr lang="en-US" sz="13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Genomgångar + export</a:t>
            </a:r>
            <a:endParaRPr lang="en-US" sz="13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Drive-delning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11312" y="187452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152052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21214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6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KLUBB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03920" y="248716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1 990 kr/år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503920" y="320040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tränare</a:t>
            </a:r>
            <a:endParaRPr lang="en-US" sz="13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Faktureras föreningen</a:t>
            </a:r>
            <a:endParaRPr lang="en-US" sz="13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Klubbfärger &amp; stöd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5440680"/>
            <a:ext cx="11055096" cy="914400"/>
          </a:xfrm>
          <a:prstGeom prst="roundRect">
            <a:avLst>
              <a:gd name="adj" fmla="val 12000"/>
            </a:avLst>
          </a:prstGeom>
          <a:solidFill>
            <a:srgbClr val="1D2B66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4406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C3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Driftskostnad per användare: ~0 kr.  </a:t>
            </a:r>
            <a:pPr indent="0" marL="0">
              <a:buNone/>
            </a:pPr>
            <a:r>
              <a:rPr lang="en-US" sz="135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lagras på tränarens egen Drive – ingen servernota som växer med succén. Prisankare: OnForm/CoachNow tar 200–500 kr/mån.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VÄGEN FRAMÅT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Från fungerande app till betalande klubbar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527048" y="1965960"/>
            <a:ext cx="685800" cy="685800"/>
          </a:xfrm>
          <a:prstGeom prst="ellipse">
            <a:avLst/>
          </a:prstGeom>
          <a:solidFill>
            <a:srgbClr val="3FC380"/>
          </a:solidFill>
          <a:ln/>
        </p:spPr>
      </p:sp>
      <p:sp>
        <p:nvSpPr>
          <p:cNvPr id="5" name="Text 3"/>
          <p:cNvSpPr/>
          <p:nvPr/>
        </p:nvSpPr>
        <p:spPr>
          <a:xfrm>
            <a:off x="1527048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2880360"/>
            <a:ext cx="2615184" cy="3017520"/>
          </a:xfrm>
          <a:prstGeom prst="roundRect">
            <a:avLst>
              <a:gd name="adj" fmla="val 4196"/>
            </a:avLst>
          </a:prstGeom>
          <a:solidFill>
            <a:srgbClr val="152052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86384" y="341985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 är byggd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86384" y="4041648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Kö-klippning, genomgångar med inbränd export och Drive-delning fungerar skarpt på telefon.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965960"/>
            <a:ext cx="685800" cy="685800"/>
          </a:xfrm>
          <a:prstGeom prst="ellipse">
            <a:avLst/>
          </a:prstGeom>
          <a:solidFill>
            <a:srgbClr val="E0242B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429000" y="2880360"/>
            <a:ext cx="2615184" cy="3017520"/>
          </a:xfrm>
          <a:prstGeom prst="roundRect">
            <a:avLst>
              <a:gd name="adj" fmla="val 4196"/>
            </a:avLst>
          </a:prstGeom>
          <a:solidFill>
            <a:srgbClr val="152052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48456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HÖST 2026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48456" y="341985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Pilotsäsong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648456" y="4041648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 tränarkollegor kör hela säsongsperioden. Mätpunkt: används appen varje pass?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51192" y="1965960"/>
            <a:ext cx="685800" cy="685800"/>
          </a:xfrm>
          <a:prstGeom prst="ellipse">
            <a:avLst/>
          </a:prstGeom>
          <a:solidFill>
            <a:srgbClr val="E0242B"/>
          </a:solidFill>
          <a:ln/>
        </p:spPr>
      </p:sp>
      <p:sp>
        <p:nvSpPr>
          <p:cNvPr id="17" name="Text 15"/>
          <p:cNvSpPr/>
          <p:nvPr/>
        </p:nvSpPr>
        <p:spPr>
          <a:xfrm>
            <a:off x="7251192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91072" y="2880360"/>
            <a:ext cx="2615184" cy="3017520"/>
          </a:xfrm>
          <a:prstGeom prst="roundRect">
            <a:avLst>
              <a:gd name="adj" fmla="val 4196"/>
            </a:avLst>
          </a:prstGeom>
          <a:solidFill>
            <a:srgbClr val="152052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0528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VÅR 2027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10528" y="341985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Store-lansering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510528" y="4041648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Freemium + klubbpaket. iOS, publicerad samtyckesskärm, integritetspolicy på teamclip.app.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113264" y="1965960"/>
            <a:ext cx="685800" cy="685800"/>
          </a:xfrm>
          <a:prstGeom prst="ellipse">
            <a:avLst/>
          </a:prstGeom>
          <a:solidFill>
            <a:srgbClr val="E0242B"/>
          </a:solidFill>
          <a:ln/>
        </p:spPr>
      </p:sp>
      <p:sp>
        <p:nvSpPr>
          <p:cNvPr id="23" name="Text 21"/>
          <p:cNvSpPr/>
          <p:nvPr/>
        </p:nvSpPr>
        <p:spPr>
          <a:xfrm>
            <a:off x="10113264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153144" y="2880360"/>
            <a:ext cx="2615184" cy="3017520"/>
          </a:xfrm>
          <a:prstGeom prst="roundRect">
            <a:avLst>
              <a:gd name="adj" fmla="val 4196"/>
            </a:avLst>
          </a:prstGeom>
          <a:solidFill>
            <a:srgbClr val="152052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72600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DÄREFTER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372600" y="3419856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 större sammanhanget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9372600" y="4041648"/>
            <a:ext cx="21945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Klubbavtal och partnerskap: SportAdmin/laget.se saknar videofeedback – integration eller förvärv från styrkeposition.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VALLGRAVARNA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 saker konkurrenterna inte kan kopiera billigt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1055096" cy="1280160"/>
          </a:xfrm>
          <a:prstGeom prst="roundRect">
            <a:avLst>
              <a:gd name="adj" fmla="val 8571"/>
            </a:avLst>
          </a:prstGeom>
          <a:solidFill>
            <a:srgbClr val="152052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40280"/>
            <a:ext cx="640080" cy="640080"/>
          </a:xfrm>
          <a:prstGeom prst="ellipse">
            <a:avLst/>
          </a:prstGeom>
          <a:solidFill>
            <a:srgbClr val="E0242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7360" y="210312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Kö-flödet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737360" y="2523744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Realtidsklippning per spelare är hela produktens DNA. Att bygga in det i en matchanalys-plattform kräver att de river sitt eget flöde.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3383280"/>
            <a:ext cx="11055096" cy="1280160"/>
          </a:xfrm>
          <a:prstGeom prst="roundRect">
            <a:avLst>
              <a:gd name="adj" fmla="val 8571"/>
            </a:avLst>
          </a:prstGeom>
          <a:solidFill>
            <a:srgbClr val="152052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703320"/>
            <a:ext cx="640080" cy="640080"/>
          </a:xfrm>
          <a:prstGeom prst="ellipse">
            <a:avLst/>
          </a:prstGeom>
          <a:solidFill>
            <a:srgbClr val="3FC38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37360" y="356616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Integriteten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737360" y="3986784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på minderåriga som aldrig rör tredje part. Molnbaserade konkurrenter kan inte matcha utan att bygga om sin affär.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4846320"/>
            <a:ext cx="11055096" cy="1280160"/>
          </a:xfrm>
          <a:prstGeom prst="roundRect">
            <a:avLst>
              <a:gd name="adj" fmla="val 8571"/>
            </a:avLst>
          </a:prstGeom>
          <a:solidFill>
            <a:srgbClr val="152052"/>
          </a:solidFill>
          <a:ln w="12700">
            <a:solidFill>
              <a:srgbClr val="1D2B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5166360"/>
            <a:ext cx="640080" cy="640080"/>
          </a:xfrm>
          <a:prstGeom prst="ellipse">
            <a:avLst/>
          </a:prstGeom>
          <a:solidFill>
            <a:srgbClr val="1D2B6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37360" y="502920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Kostnadsstrukturen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737360" y="5449824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 kr per användare gör 59 kr/mån lönsamt. Hudl kan inte möta det priset – deras molnnota tillåter det inte.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097280"/>
            <a:ext cx="4206240" cy="4206240"/>
          </a:xfrm>
          <a:prstGeom prst="ellipse">
            <a:avLst/>
          </a:prstGeom>
          <a:solidFill>
            <a:srgbClr val="A8121B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1D2B6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011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E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TEAMCLIP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242316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Från skott till feedback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EAF0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innan spelaren duschat.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4663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Lundgren · teamclip.app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TeamClip – säljpitch</dc:title>
  <dc:subject>PptxGenJS Presentation</dc:subject>
  <dc:creator>Per Lundgren</dc:creator>
  <cp:lastModifiedBy>Per Lundgren</cp:lastModifiedBy>
  <cp:revision>1</cp:revision>
  <dcterms:created xsi:type="dcterms:W3CDTF">2026-07-14T14:20:41Z</dcterms:created>
  <dcterms:modified xsi:type="dcterms:W3CDTF">2026-07-14T14:20:41Z</dcterms:modified>
</cp:coreProperties>
</file>